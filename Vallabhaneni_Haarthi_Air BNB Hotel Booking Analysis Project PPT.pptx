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109B11-726B-622E-F1D0-53498C852A02}" v="122" dt="2025-09-25T09:02:38.1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9/27/2025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9/27/2025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9/27/2025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HaarthiV13/VOIS_AICTE_Oct2025_VallabhaneniHaarthi"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normAutofit fontScale="85000" lnSpcReduction="10000"/>
          </a:bodyPr>
          <a:lstStyle/>
          <a:p>
            <a:pPr algn="r"/>
            <a:r>
              <a:rPr lang="en-US" b="0" dirty="0">
                <a:solidFill>
                  <a:schemeClr val="tx1"/>
                </a:solidFill>
              </a:rPr>
              <a:t>[Haarthi Vallabhaneni ]</a:t>
            </a:r>
          </a:p>
          <a:p>
            <a:pPr algn="r"/>
            <a:r>
              <a:rPr lang="en-US" b="0" dirty="0">
                <a:solidFill>
                  <a:schemeClr val="tx1"/>
                </a:solidFill>
              </a:rPr>
              <a:t>[</a:t>
            </a:r>
            <a:r>
              <a:rPr lang="en-IN" b="0" dirty="0"/>
              <a:t>STU657da33295f551702732594</a:t>
            </a:r>
            <a:r>
              <a:rPr lang="en-US" b="0" dirty="0">
                <a:solidFill>
                  <a:schemeClr val="tx1"/>
                </a:solidFill>
              </a:rPr>
              <a: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fontScale="90000"/>
          </a:bodyPr>
          <a:lstStyle/>
          <a:p>
            <a:r>
              <a:rPr lang="en-GB" sz="3200" dirty="0"/>
              <a:t>Project Title –</a:t>
            </a:r>
            <a:br>
              <a:rPr lang="en-GB" sz="3200" dirty="0"/>
            </a:br>
            <a:r>
              <a:rPr lang="en-IN" dirty="0" err="1"/>
              <a:t>AirBNB</a:t>
            </a:r>
            <a:r>
              <a:rPr lang="en-IN" dirty="0"/>
              <a:t> Hotel Booking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95974" y="1480487"/>
            <a:ext cx="6431280" cy="4143015"/>
          </a:xfrm>
        </p:spPr>
        <p:txBody>
          <a:bodyPr>
            <a:normAutofit fontScale="70000" lnSpcReduction="20000"/>
          </a:bodyPr>
          <a:lstStyle/>
          <a:p>
            <a:r>
              <a:rPr lang="en-US" dirty="0"/>
              <a:t>The hospitality industry has undergone a significant transformation with the rise of online platforms facilitating short-term lodging and tourism. Leading this revolution is Airbnb, Inc., a pioneering American company that has reshaped travel accommodation through its innovative online marketplace. Established in 2008 in Sen Francisco, California, Airbnb provides a diverse range of lodging options, offering guests a unique and personalized experience. Unlike traditional hospitality providers, Airbnb operates on a commission based model, facilitating transactions between hosts and guests without owning the properties listed on its platform.</a:t>
            </a:r>
          </a:p>
          <a:p>
            <a:r>
              <a:rPr lang="en-US" dirty="0"/>
              <a:t>This research analysis delves into the New York City Airbnb dataset to extract meaningful insights. Through rigorous data cleaning, exploratory analysis, and visualization techniques, the study aims to illuminate the dynamics of the city's lodging market. By discerning factors influencing listing availability, pricing strategies, and overall customer satisfaction, the research contributes to a deeper understanding of Airbnb's operations in one of the world's most dynamic urban environments. These insights hold significance for stakeholders and enthusiasts seeking to navigate the evolving landscape of short-term accommodation</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3600" dirty="0"/>
              <a:t>PROJECT DESCRIPTION</a:t>
            </a:r>
            <a:br>
              <a:rPr lang="en-GB" sz="1400" dirty="0"/>
            </a:br>
            <a:br>
              <a:rPr lang="en-GB" sz="1400" dirty="0"/>
            </a:br>
            <a:r>
              <a:rPr lang="en-US" sz="1400" b="0" dirty="0"/>
              <a:t>This project aims to analyze Airbnb hotel booking data to uncover patterns, trends, and insights that can help improve decision-making for hosts and enhance the overall guest experience. By examining booking behaviors, pricing strategies, guest preferences, and host performance, we seek to identify key factors that drive successful bookings and high guest satisfaction</a:t>
            </a:r>
            <a:br>
              <a:rPr lang="en-US" sz="1400" b="0" dirty="0"/>
            </a:br>
            <a:br>
              <a:rPr lang="en-US" sz="1400" b="0" dirty="0"/>
            </a:br>
            <a:r>
              <a:rPr lang="en-US" sz="1400" b="0" dirty="0"/>
              <a:t>Key Objectives:</a:t>
            </a:r>
            <a:br>
              <a:rPr lang="en-US" sz="1400" b="0" dirty="0"/>
            </a:br>
            <a:r>
              <a:rPr lang="en-US" sz="1400" b="0" dirty="0"/>
              <a:t>Booking Patterns: Identify peak booking seasons, variations by location, and average booking lead times. </a:t>
            </a:r>
            <a:br>
              <a:rPr lang="en-US" sz="1400" b="0" dirty="0"/>
            </a:br>
            <a:r>
              <a:rPr lang="en-US" sz="1400" b="0" dirty="0"/>
              <a:t>Pricing Strategies: Examine effective pricing strategies, the impact of seasonality, and the relationship between pricing and guest satisfaction. Guest Preferences: Understand the amenities and features most desired by guests, how preferences vary, and the factors leading to higher ratings. Host Performance: Analyze practices of high-performing hosts, the impact of host responsiveness, and common guest complaints</a:t>
            </a:r>
            <a:endParaRPr lang="en-IN" sz="1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81EC247E-91B9-AA4B-920C-62A8D81D1B4D}"/>
              </a:ext>
            </a:extLst>
          </p:cNvPr>
          <p:cNvSpPr>
            <a:spLocks noGrp="1" noChangeArrowheads="1"/>
          </p:cNvSpPr>
          <p:nvPr>
            <p:ph type="body" sz="quarter" idx="12"/>
          </p:nvPr>
        </p:nvSpPr>
        <p:spPr bwMode="auto">
          <a:xfrm>
            <a:off x="620008" y="1781585"/>
            <a:ext cx="763017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Hosts</a:t>
            </a:r>
            <a:r>
              <a:rPr kumimoji="0" lang="en-US" altLang="en-US" sz="1600" b="0" i="0" u="none" strike="noStrike" cap="none" normalizeH="0" baseline="0" dirty="0">
                <a:ln>
                  <a:noFill/>
                </a:ln>
                <a:solidFill>
                  <a:schemeClr val="tx1"/>
                </a:solidFill>
                <a:effectLst/>
              </a:rPr>
              <a:t> – Airbnb property owners or managers who can use the analysis to optimize pricing,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 improve guest satisfaction, and enhance booking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Guests</a:t>
            </a:r>
            <a:r>
              <a:rPr kumimoji="0" lang="en-US" altLang="en-US" sz="1600" b="0" i="0" u="none" strike="noStrike" cap="none" normalizeH="0" baseline="0" dirty="0">
                <a:ln>
                  <a:noFill/>
                </a:ln>
                <a:solidFill>
                  <a:schemeClr val="tx1"/>
                </a:solidFill>
                <a:effectLst/>
              </a:rPr>
              <a:t> – Travelers who benefit indirectly through better accommodation options,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 improved services, and more accurate pricing.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Airbnb Platform/Management</a:t>
            </a:r>
            <a:r>
              <a:rPr kumimoji="0" lang="en-US" altLang="en-US" sz="1600" b="0" i="0" u="none" strike="noStrike" cap="none" normalizeH="0" baseline="0" dirty="0">
                <a:ln>
                  <a:noFill/>
                </a:ln>
                <a:solidFill>
                  <a:schemeClr val="tx1"/>
                </a:solidFill>
                <a:effectLst/>
              </a:rPr>
              <a:t> – The company itself can use these insights to improve platform policies,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 support hosts, and enhance the overall user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Market Analysts/Researchers</a:t>
            </a:r>
            <a:r>
              <a:rPr kumimoji="0" lang="en-US" altLang="en-US" sz="1600" b="0" i="0" u="none" strike="noStrike" cap="none" normalizeH="0" baseline="0" dirty="0">
                <a:ln>
                  <a:noFill/>
                </a:ln>
                <a:solidFill>
                  <a:schemeClr val="tx1"/>
                </a:solidFill>
                <a:effectLst/>
              </a:rPr>
              <a:t> – Individuals or organizations studying trends in the hospitality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 industry for research, investment, or strategic planning purposes.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 - Core programming language </a:t>
            </a:r>
          </a:p>
          <a:p>
            <a:pPr lvl="1">
              <a:lnSpc>
                <a:spcPct val="150000"/>
              </a:lnSpc>
            </a:pPr>
            <a:r>
              <a:rPr lang="en-IN" dirty="0"/>
              <a:t>Pandas &amp; NumPy - Data cleaning and preprocessing </a:t>
            </a:r>
          </a:p>
          <a:p>
            <a:pPr lvl="1">
              <a:lnSpc>
                <a:spcPct val="150000"/>
              </a:lnSpc>
            </a:pPr>
            <a:r>
              <a:rPr lang="en-IN" dirty="0"/>
              <a:t>Matplotlib/Seaborn- Data visualization and feature importance </a:t>
            </a:r>
          </a:p>
          <a:p>
            <a:pPr lvl="1">
              <a:lnSpc>
                <a:spcPct val="150000"/>
              </a:lnSpc>
            </a:pPr>
            <a:r>
              <a:rPr lang="en-IN" dirty="0"/>
              <a:t>Google </a:t>
            </a:r>
            <a:r>
              <a:rPr lang="en-IN" dirty="0" err="1"/>
              <a:t>Colab</a:t>
            </a:r>
            <a:r>
              <a:rPr lang="en-IN" dirty="0"/>
              <a:t> - Cloud-based environment for running the project File handling libraries </a:t>
            </a:r>
          </a:p>
          <a:p>
            <a:pPr lvl="1">
              <a:lnSpc>
                <a:spcPct val="150000"/>
              </a:lnSpc>
            </a:pPr>
            <a:r>
              <a:rPr lang="en-IN" dirty="0"/>
              <a:t> </a:t>
            </a:r>
            <a:r>
              <a:rPr lang="en-IN" dirty="0" err="1"/>
              <a:t>openpyxl</a:t>
            </a:r>
            <a:r>
              <a:rPr lang="en-IN" dirty="0"/>
              <a:t> (for Excel) and built-in CSV handling</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3" name="Text Placeholder 2">
            <a:extLst>
              <a:ext uri="{FF2B5EF4-FFF2-40B4-BE49-F238E27FC236}">
                <a16:creationId xmlns:a16="http://schemas.microsoft.com/office/drawing/2014/main" id="{39662385-D947-C900-D521-5401B5425729}"/>
              </a:ext>
            </a:extLst>
          </p:cNvPr>
          <p:cNvSpPr>
            <a:spLocks noGrp="1"/>
          </p:cNvSpPr>
          <p:nvPr>
            <p:ph type="body" sz="quarter" idx="12"/>
          </p:nvPr>
        </p:nvSpPr>
        <p:spPr/>
        <p:txBody>
          <a:bodyPr/>
          <a:lstStyle/>
          <a:p>
            <a:endParaRPr lang="en-IN" dirty="0"/>
          </a:p>
        </p:txBody>
      </p:sp>
      <p:pic>
        <p:nvPicPr>
          <p:cNvPr id="13" name="Picture 12">
            <a:extLst>
              <a:ext uri="{FF2B5EF4-FFF2-40B4-BE49-F238E27FC236}">
                <a16:creationId xmlns:a16="http://schemas.microsoft.com/office/drawing/2014/main" id="{F4F248C2-BF61-F553-DF26-13B961C84E51}"/>
              </a:ext>
            </a:extLst>
          </p:cNvPr>
          <p:cNvPicPr>
            <a:picLocks noChangeAspect="1"/>
          </p:cNvPicPr>
          <p:nvPr/>
        </p:nvPicPr>
        <p:blipFill>
          <a:blip r:embed="rId3"/>
          <a:stretch>
            <a:fillRect/>
          </a:stretch>
        </p:blipFill>
        <p:spPr>
          <a:xfrm>
            <a:off x="394704" y="1026368"/>
            <a:ext cx="8392696" cy="498850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4F0609D-325A-6CFC-7512-0C94EDABEB7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3" name="Text Placeholder 2">
            <a:extLst>
              <a:ext uri="{FF2B5EF4-FFF2-40B4-BE49-F238E27FC236}">
                <a16:creationId xmlns:a16="http://schemas.microsoft.com/office/drawing/2014/main" id="{97DD737A-7AA2-57D8-7507-F8F4C49EE6FB}"/>
              </a:ext>
            </a:extLst>
          </p:cNvPr>
          <p:cNvSpPr>
            <a:spLocks noGrp="1"/>
          </p:cNvSpPr>
          <p:nvPr>
            <p:ph type="body" sz="quarter" idx="12"/>
          </p:nvPr>
        </p:nvSpPr>
        <p:spPr/>
        <p:txBody>
          <a:bodyPr/>
          <a:lstStyle/>
          <a:p>
            <a:endParaRPr lang="en-IN"/>
          </a:p>
        </p:txBody>
      </p:sp>
      <p:pic>
        <p:nvPicPr>
          <p:cNvPr id="11" name="Picture 10">
            <a:extLst>
              <a:ext uri="{FF2B5EF4-FFF2-40B4-BE49-F238E27FC236}">
                <a16:creationId xmlns:a16="http://schemas.microsoft.com/office/drawing/2014/main" id="{C916015D-C6EB-B4CB-5850-A60A413C5465}"/>
              </a:ext>
            </a:extLst>
          </p:cNvPr>
          <p:cNvPicPr>
            <a:picLocks noChangeAspect="1"/>
          </p:cNvPicPr>
          <p:nvPr/>
        </p:nvPicPr>
        <p:blipFill>
          <a:blip r:embed="rId3"/>
          <a:stretch>
            <a:fillRect/>
          </a:stretch>
        </p:blipFill>
        <p:spPr>
          <a:xfrm>
            <a:off x="382155" y="1286167"/>
            <a:ext cx="8145304" cy="4319296"/>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C3286AD-B268-E75A-C390-BA89A4EE730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F6B14C4F-1746-A8AB-D262-5A993160F568}"/>
              </a:ext>
            </a:extLst>
          </p:cNvPr>
          <p:cNvSpPr>
            <a:spLocks noGrp="1"/>
          </p:cNvSpPr>
          <p:nvPr>
            <p:ph type="body" sz="quarter" idx="12"/>
          </p:nvPr>
        </p:nvSpPr>
        <p:spPr>
          <a:xfrm>
            <a:off x="807164" y="1431693"/>
            <a:ext cx="4275138" cy="477520"/>
          </a:xfrm>
        </p:spPr>
        <p:txBody>
          <a:bodyPr>
            <a:normAutofit/>
          </a:bodyPr>
          <a:lstStyle/>
          <a:p>
            <a:pPr marL="0" indent="0">
              <a:buNone/>
            </a:pPr>
            <a:endParaRPr lang="en-IN" dirty="0"/>
          </a:p>
        </p:txBody>
      </p:sp>
      <p:pic>
        <p:nvPicPr>
          <p:cNvPr id="3" name="Picture 2">
            <a:extLst>
              <a:ext uri="{FF2B5EF4-FFF2-40B4-BE49-F238E27FC236}">
                <a16:creationId xmlns:a16="http://schemas.microsoft.com/office/drawing/2014/main" id="{32258E8E-A515-7378-9BE8-E38FD75635D5}"/>
              </a:ext>
            </a:extLst>
          </p:cNvPr>
          <p:cNvPicPr>
            <a:picLocks noChangeAspect="1"/>
          </p:cNvPicPr>
          <p:nvPr/>
        </p:nvPicPr>
        <p:blipFill>
          <a:blip r:embed="rId3"/>
          <a:stretch>
            <a:fillRect/>
          </a:stretch>
        </p:blipFill>
        <p:spPr>
          <a:xfrm>
            <a:off x="675957" y="1275371"/>
            <a:ext cx="7324082" cy="4477712"/>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E6ED231-AB91-2C33-0439-AEAC41FE728F}"/>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07164" y="1431693"/>
            <a:ext cx="5180013" cy="2553970"/>
          </a:xfrm>
        </p:spPr>
        <p:txBody>
          <a:bodyPr vert="horz" lIns="91440" tIns="45720" rIns="91440" bIns="45720" rtlCol="0" anchor="t">
            <a:normAutofit/>
          </a:bodyPr>
          <a:lstStyle/>
          <a:p>
            <a:pPr marL="0" indent="0">
              <a:buNone/>
            </a:pPr>
            <a:r>
              <a:rPr lang="en-IN" sz="2800" dirty="0">
                <a:hlinkClick r:id="rId3"/>
              </a:rPr>
              <a:t>HaarthiV13/VOIS_AICTE_Oct2025_VallabhaneniHaarthi</a:t>
            </a:r>
            <a:endParaRPr lang="en-US" sz="2800" dirty="0"/>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252388"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833043" y="1183154"/>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82061207-46B4-83AB-248F-44ACF6211615}"/>
              </a:ext>
            </a:extLst>
          </p:cNvPr>
          <p:cNvPicPr>
            <a:picLocks noChangeAspect="1"/>
          </p:cNvPicPr>
          <p:nvPr/>
        </p:nvPicPr>
        <p:blipFill>
          <a:blip r:embed="rId3"/>
          <a:stretch>
            <a:fillRect/>
          </a:stretch>
        </p:blipFill>
        <p:spPr>
          <a:xfrm>
            <a:off x="623977" y="1183154"/>
            <a:ext cx="7775913" cy="5197326"/>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79BC8AF2-1CEE-21CC-6CF1-1BF46FE84D0B}"/>
              </a:ext>
            </a:extLst>
          </p:cNvPr>
          <p:cNvPicPr>
            <a:picLocks noChangeAspect="1"/>
          </p:cNvPicPr>
          <p:nvPr/>
        </p:nvPicPr>
        <p:blipFill>
          <a:blip r:embed="rId3"/>
          <a:stretch>
            <a:fillRect/>
          </a:stretch>
        </p:blipFill>
        <p:spPr>
          <a:xfrm>
            <a:off x="675957" y="1159899"/>
            <a:ext cx="7914711" cy="5505061"/>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11811" y="298064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591</TotalTime>
  <Words>541</Words>
  <Application>Microsoft Office PowerPoint</Application>
  <PresentationFormat>Widescreen</PresentationFormat>
  <Paragraphs>33</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Project Title – AirBNB Hotel Booking Analysis</vt:lpstr>
      <vt:lpstr>PROBLEM  STATEMENT</vt:lpstr>
      <vt:lpstr>PROJECT DESCRIPTION  This project aims to analyze Airbnb hotel booking data to uncover patterns, trends, and insights that can help improve decision-making for hosts and enhance the overall guest experience. By examining booking behaviors, pricing strategies, guest preferences, and host performance, we seek to identify key factors that drive successful bookings and high guest satisfaction  Key Objectives: Booking Patterns: Identify peak booking seasons, variations by location, and average booking lead times.  Pricing Strategies: Examine effective pricing strategies, the impact of seasonality, and the relationship between pricing and guest satisfaction. Guest Preferences: Understand the amenities and features most desired by guests, how preferences vary, and the factors leading to higher ratings. Host Performance: Analyze practices of high-performing hosts, the impact of host responsiveness, and common guest complaints</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Haarthi Vallabhaneni</cp:lastModifiedBy>
  <cp:revision>107</cp:revision>
  <dcterms:created xsi:type="dcterms:W3CDTF">2021-07-11T13:13:15Z</dcterms:created>
  <dcterms:modified xsi:type="dcterms:W3CDTF">2025-09-27T11:51:34Z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